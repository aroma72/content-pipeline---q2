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7200" b="1">
                <a:solidFill>
                  <a:srgbClr val="FFFFFF"/>
                </a:solidFill>
              </a:defRPr>
            </a:pPr>
            <a:r>
              <a:t>Systems Evaluations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2800" b="0">
                <a:solidFill>
                  <a:srgbClr val="00B0B0"/>
                </a:solidFill>
              </a:defRPr>
            </a:pPr>
            <a:r>
              <a:t>Quality Control for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800" b="0">
                <a:solidFill>
                  <a:srgbClr val="FFFFFF"/>
                </a:solidFill>
              </a:defRPr>
            </a:pPr>
            <a:r>
              <a:t>By the end of this session, you will:</a:t>
            </a:r>
            <a:br/>
            <a:br/>
            <a:r>
              <a:t>✓ Understand why evaluation differs from testing</a:t>
            </a:r>
            <a:br/>
            <a:r>
              <a:t>✓ Design and implement evaluation rubrics</a:t>
            </a:r>
            <a:br/>
            <a:r>
              <a:t>✓ Run hybrid (automated + manual) evaluations</a:t>
            </a:r>
            <a:br/>
            <a:r>
              <a:t>✓ Document decisions for reproducibility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F44336"/>
                </a:solidFill>
              </a:defRPr>
            </a:pPr>
            <a:r>
              <a:t>You built an AI agent. It passes all tests. But in production...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4114800" cy="1645920"/>
          </a:xfrm>
          <a:prstGeom prst="roundRect">
            <a:avLst/>
          </a:prstGeom>
          <a:solidFill>
            <a:srgbClr val="E6F5FA"/>
          </a:solidFill>
          <a:ln w="25400"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00B0B0"/>
                </a:solidFill>
              </a:defRPr>
            </a:pPr>
            <a:r>
              <a:t>What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749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212121"/>
                </a:solidFill>
              </a:defRPr>
            </a:pPr>
            <a:r>
              <a:t>✗ Agent hallucinates facts</a:t>
            </a:r>
            <a:br/>
            <a:r>
              <a:t>✗ Responses unhelpful</a:t>
            </a:r>
            <a:br/>
            <a:r>
              <a:t>✗ Users complain</a:t>
            </a:r>
            <a:br/>
            <a:r>
              <a:t>✗ No way to measure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286000"/>
            <a:ext cx="3931920" cy="1645920"/>
          </a:xfrm>
          <a:prstGeom prst="roundRect">
            <a:avLst/>
          </a:prstGeom>
          <a:solidFill>
            <a:srgbClr val="E6F5FA"/>
          </a:solidFill>
          <a:ln w="25400"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377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00B0B0"/>
                </a:solidFill>
              </a:defRPr>
            </a:pPr>
            <a:r>
              <a:t>Why Testing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212121"/>
                </a:solidFill>
              </a:defRPr>
            </a:pPr>
            <a:r>
              <a:t>✓ Code works</a:t>
            </a:r>
            <a:br/>
            <a:r>
              <a:t>✓ Edge cases pass</a:t>
            </a:r>
            <a:br/>
            <a:r>
              <a:t>✓ Performance is fast</a:t>
            </a:r>
            <a:br/>
            <a:r>
              <a:t>✗ But user experience?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8229600" cy="640080"/>
          </a:xfrm>
          <a:prstGeom prst="round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FFFFFF"/>
                </a:solidFill>
              </a:defRPr>
            </a:pPr>
            <a:r>
              <a:t>Tests verify code. Evaluations verify real-world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616161"/>
                </a:solidFill>
              </a:defRPr>
            </a:pPr>
            <a:r>
              <a:t>Testing: Does the code run?</a:t>
            </a:r>
            <a:br/>
            <a:r>
              <a:t>Evaluation: Does it solve the user's problem?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What is Evaluation?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200" b="1">
                <a:solidFill>
                  <a:srgbClr val="00B0B0"/>
                </a:solidFill>
              </a:defRPr>
            </a:pPr>
            <a:r>
              <a:t>Systematic measurement of whether an agent achieves its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00B0B0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1F4E79"/>
                </a:solidFill>
              </a:defRPr>
            </a:pPr>
            <a:r>
              <a:t>Does it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212121"/>
                </a:solidFill>
              </a:defRPr>
            </a:pPr>
            <a:r>
              <a:t>Produces output without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00B0B0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1F4E79"/>
                </a:solidFill>
              </a:defRPr>
            </a:pPr>
            <a:r>
              <a:t>Meets standards?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212121"/>
                </a:solidFill>
              </a:defRPr>
            </a:pPr>
            <a:r>
              <a:t>Output meets quality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00B0B0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1F4E79"/>
                </a:solidFill>
              </a:defRPr>
            </a:pPr>
            <a:r>
              <a:t>Where fails?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9183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212121"/>
                </a:solidFill>
              </a:defRPr>
            </a:pPr>
            <a:r>
              <a:t>Which use cases break?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5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2000" b="1">
                <a:solidFill>
                  <a:srgbClr val="00B0B0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5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1F4E79"/>
                </a:solidFill>
              </a:defRPr>
            </a:pPr>
            <a:r>
              <a:t>How improve?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9475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500" b="0">
                <a:solidFill>
                  <a:srgbClr val="212121"/>
                </a:solidFill>
              </a:defRPr>
            </a:pPr>
            <a:r>
              <a:t>What specific changes help?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Three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400" b="1">
                <a:solidFill>
                  <a:srgbClr val="4CAF50"/>
                </a:solidFill>
              </a:defRPr>
            </a:pPr>
            <a:r>
              <a:t>AUTOMATED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Fast: Seconds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Scalable: 1000s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Repeatable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Cheap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Limited nuance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400" b="1">
                <a:solidFill>
                  <a:srgbClr val="FF9800"/>
                </a:solidFill>
              </a:defRPr>
            </a:pPr>
            <a:r>
              <a:t>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Nuanced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Context-aware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Catches edge cases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Slow: Hours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Expensive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400" b="1">
                <a:solidFill>
                  <a:srgbClr val="00B0B0"/>
                </a:solidFill>
              </a:defRPr>
            </a:pPr>
            <a:r>
              <a:t>HYBRID 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Automated: First pass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Manual: Spot-check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Cost-effective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Catches both issues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Best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217920"/>
            <a:ext cx="8229600" cy="640080"/>
          </a:xfrm>
          <a:prstGeom prst="round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FFFFFF"/>
                </a:solidFill>
              </a:defRPr>
            </a:pPr>
            <a:r>
              <a:t>Industry standard: Run automated, then manual review on sample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5-Step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</a:defRPr>
            </a:pPr>
            <a:r>
              <a:t>1. DEFINE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25880"/>
            <a:ext cx="1097280" cy="41148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1F4E79"/>
                </a:solidFill>
              </a:defRPr>
            </a:pPr>
            <a:r>
              <a:t>What goals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616161"/>
                </a:solidFill>
              </a:defRPr>
            </a:pPr>
            <a:r>
              <a:t>Quality, helpfulness, accuracy,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</a:defRPr>
            </a:pPr>
            <a:r>
              <a:t>2. DESIGN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194560"/>
            <a:ext cx="1097280" cy="41148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1F4E79"/>
                </a:solidFill>
              </a:defRPr>
            </a:pPr>
            <a:r>
              <a:t>How measure?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616161"/>
                </a:solidFill>
              </a:defRPr>
            </a:pPr>
            <a:r>
              <a:t>Rubrics, metrics, scoring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</a:defRPr>
            </a:pPr>
            <a:r>
              <a:t>3. BUILD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3240"/>
            <a:ext cx="1097280" cy="41148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0896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1F4E79"/>
                </a:solidFill>
              </a:defRPr>
            </a:pPr>
            <a:r>
              <a:t>Create rubric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9184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616161"/>
                </a:solidFill>
              </a:defRPr>
            </a:pPr>
            <a:r>
              <a:t>Criteria → Levels → Descriptors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</a:defRPr>
            </a:pPr>
            <a:r>
              <a:t>4. TEST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931920"/>
            <a:ext cx="1097280" cy="41148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7764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1F4E79"/>
                </a:solidFill>
              </a:defRPr>
            </a:pPr>
            <a:r>
              <a:t>Pilot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6052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616161"/>
                </a:solidFill>
              </a:defRPr>
            </a:pPr>
            <a:r>
              <a:t>Test on 50-100 samples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200" b="1">
                <a:solidFill>
                  <a:srgbClr val="FFFFFF"/>
                </a:solidFill>
              </a:defRPr>
            </a:pPr>
            <a:r>
              <a:t>5. SCALE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800600"/>
            <a:ext cx="1097280" cy="41148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4632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1F4E79"/>
                </a:solidFill>
              </a:defRPr>
            </a:pPr>
            <a:r>
              <a:t>Full 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029200"/>
            <a:ext cx="6949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616161"/>
                </a:solidFill>
              </a:defRPr>
            </a:pPr>
            <a:r>
              <a:t>Apply to complete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Real Rubric Example: Fact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B0B0"/>
                </a:solidFill>
              </a:defRPr>
            </a:pPr>
            <a:r>
              <a:t>Scenario: Evaluating if agent gives correct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EXEMPLARY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97280" cy="32004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EXEMPLARY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F4E79"/>
                </a:solidFill>
              </a:defRPr>
            </a:pPr>
            <a:r>
              <a:t>Level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2024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All facts correct, proper citations, complete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PROFICIENT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097280" cy="320040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PROFICIENT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688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F4E79"/>
                </a:solidFill>
              </a:defRPr>
            </a:pPr>
            <a:r>
              <a:t>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No major errors, 90%+ correct, mostly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DEVELOPING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DEVELOPING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17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F4E79"/>
                </a:solidFill>
              </a:defRPr>
            </a:pPr>
            <a: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017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Some errors (1-2), partial answer, confusing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661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NEEDS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1097280" cy="320040"/>
          </a:xfrm>
          <a:prstGeom prst="rect">
            <a:avLst/>
          </a:prstGeom>
          <a:solidFill>
            <a:srgbClr val="F4433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FFFFFF"/>
                </a:solidFill>
              </a:defRPr>
            </a:pPr>
            <a:r>
              <a:t>NEEDS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661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F4E79"/>
                </a:solidFill>
              </a:defRPr>
            </a:pPr>
            <a:r>
              <a:t>Level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56616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Major errors or hallucinations, incomplete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26480"/>
            <a:ext cx="8229600" cy="640080"/>
          </a:xfrm>
          <a:prstGeom prst="round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FFFFFF"/>
                </a:solidFill>
              </a:defRPr>
            </a:pPr>
            <a:r>
              <a:t>Notice: Specific descriptors → No ambiguity → Consistent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Pitfalls &amp; How to Avoid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F44336"/>
                </a:solidFill>
              </a:defRPr>
            </a:pPr>
            <a:r>
              <a:t>❌ Vague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3716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4CAF50"/>
                </a:solidFill>
              </a:defRPr>
            </a:pPr>
            <a:r>
              <a:t>✓ Use measurable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'good' → 'factually accurate'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F44336"/>
                </a:solidFill>
              </a:defRPr>
            </a:pPr>
            <a:r>
              <a:t>❌ Rater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65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4CAF50"/>
                </a:solidFill>
              </a:defRPr>
            </a:pPr>
            <a:r>
              <a:t>✓ Structured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Objective scoring, not gut feeling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F44336"/>
                </a:solidFill>
              </a:defRPr>
            </a:pPr>
            <a:r>
              <a:t>❌ Too narrow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4CAF50"/>
                </a:solidFill>
              </a:defRPr>
            </a:pPr>
            <a:r>
              <a:t>✓ Representative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Test on diverse cases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F44336"/>
                </a:solidFill>
              </a:defRPr>
            </a:pPr>
            <a:r>
              <a:t>❌ No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5467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4CAF50"/>
                </a:solidFill>
              </a:defRPr>
            </a:pPr>
            <a:r>
              <a:t>✓ Log every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54679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Why did you score it 3/4?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F44336"/>
                </a:solidFill>
              </a:defRPr>
            </a:pPr>
            <a:r>
              <a:t>❌ Single rater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74903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1">
                <a:solidFill>
                  <a:srgbClr val="4CAF50"/>
                </a:solidFill>
              </a:defRPr>
            </a:pPr>
            <a:r>
              <a:t>✓ Multiple judges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49039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212121"/>
                </a:solidFill>
              </a:defRPr>
            </a:pPr>
            <a:r>
              <a:t>Compare results, calibrate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Exercise: Design Your Rubric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600" b="1">
                <a:solidFill>
                  <a:srgbClr val="00B0B0"/>
                </a:solidFill>
              </a:defRPr>
            </a:pPr>
            <a:r>
              <a:t>Scenario: Evaluating customer support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defRPr sz="1400" b="0">
                <a:solidFill>
                  <a:srgbClr val="212121"/>
                </a:solidFill>
              </a:defRPr>
            </a:pPr>
            <a:r>
              <a:t>What makes a GOOD support response? (Next 5 minutes: Discuss with partner)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What's the main goal? (Speed? Accuracy? Empathy?)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How would you measure each criterion?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What's exemplary vs. needs work?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What would bias your judgment?</a:t>
            </a:r>
          </a:p>
          <a:p>
            <a:pPr>
              <a:lnSpc>
                <a:spcPct val="150000"/>
              </a:lnSpc>
              <a:spcBef>
                <a:spcPts val="600"/>
              </a:spcBef>
              <a:defRPr sz="1300">
                <a:solidFill>
                  <a:srgbClr val="212121"/>
                </a:solidFill>
              </a:defRPr>
            </a:pPr>
            <a:r>
              <a:t>How would you document your decision?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When Done Right: Real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023360" cy="1645920"/>
          </a:xfrm>
          <a:prstGeom prst="roundRect">
            <a:avLst/>
          </a:prstGeom>
          <a:solidFill>
            <a:srgbClr val="E6F5FA"/>
          </a:solidFill>
          <a:ln w="25400"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00B0B0"/>
                </a:solidFill>
              </a:defRPr>
            </a:pPr>
            <a:r>
              <a:t>Before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212121"/>
                </a:solidFill>
              </a:defRPr>
            </a:pPr>
            <a:r>
              <a:t>✗ Agent seems fine</a:t>
            </a:r>
            <a:br/>
            <a:r>
              <a:t>✗ Users complain</a:t>
            </a:r>
            <a:br/>
            <a:r>
              <a:t>✗ 40% satisfaction</a:t>
            </a:r>
            <a:br/>
            <a:r>
              <a:t>✗ No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463040"/>
            <a:ext cx="3840480" cy="1645920"/>
          </a:xfrm>
          <a:prstGeom prst="roundRect">
            <a:avLst/>
          </a:prstGeom>
          <a:solidFill>
            <a:srgbClr val="E6F5FA"/>
          </a:solidFill>
          <a:ln w="25400"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1">
                <a:solidFill>
                  <a:srgbClr val="00B0B0"/>
                </a:solidFill>
              </a:defRPr>
            </a:pPr>
            <a:r>
              <a:t>After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100" b="0">
                <a:solidFill>
                  <a:srgbClr val="212121"/>
                </a:solidFill>
              </a:defRPr>
            </a:pPr>
            <a:r>
              <a:t>✓ Identified 3 bugs</a:t>
            </a:r>
            <a:br/>
            <a:r>
              <a:t>✓ Improved quality</a:t>
            </a:r>
            <a:br/>
            <a:r>
              <a:t>✓ 87% satisfaction</a:t>
            </a:r>
            <a:br/>
            <a:r>
              <a:t>✓ Measurable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8229600" cy="640080"/>
          </a:xfrm>
          <a:prstGeom prst="round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FFFFFF"/>
                </a:solidFill>
              </a:defRPr>
            </a:pPr>
            <a:r>
              <a:t>Structured evaluation → Visible improvements → Data-driven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200" b="0">
                <a:solidFill>
                  <a:srgbClr val="212121"/>
                </a:solidFill>
              </a:defRPr>
            </a:pPr>
            <a:r>
              <a:t>Example: Query about product pricing</a:t>
            </a:r>
            <a:br/>
            <a:br/>
            <a:r>
              <a:t>Before: "Response is unhelpful" (Vague)</a:t>
            </a:r>
            <a:br/>
            <a:r>
              <a:t>After: "Misses 2 of 5 required price points" (Measurable) → Fix it!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Checklist: Ready to Evaluate?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73152"/>
          </a:xfrm>
          <a:prstGeom prst="rect">
            <a:avLst/>
          </a:prstGeom>
          <a:solidFill>
            <a:srgbClr val="00B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Define what 'good' means for your agent (1-2 goals)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Design 1 rubric with 4 levels + descriptors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Pick 20-30 representative test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Have 2 people score the same 5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Compare results - do they match? (Calibrate if not)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Document scoring decisions +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Run on full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Analyze results → What patterns?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300" b="0">
                <a:solidFill>
                  <a:srgbClr val="212121"/>
                </a:solidFill>
              </a:defRPr>
            </a:pPr>
            <a:r>
              <a:t>□ Plan improvements based on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217920"/>
            <a:ext cx="8229600" cy="640080"/>
          </a:xfrm>
          <a:prstGeom prst="roundRect">
            <a:avLst/>
          </a:prstGeom>
          <a:solidFill>
            <a:srgbClr val="00B0B0"/>
          </a:solidFill>
          <a:ln>
            <a:solidFill>
              <a:srgbClr val="0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1800" b="1">
                <a:solidFill>
                  <a:srgbClr val="FFFFFF"/>
                </a:solidFill>
              </a:defRPr>
            </a:pPr>
            <a:r>
              <a:t>Start simple. You can always refine.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defRPr sz="3600" b="1">
                <a:solidFill>
                  <a:srgbClr val="FFFFFF"/>
                </a:solidFill>
              </a:defRPr>
            </a:pPr>
            <a:r>
              <a:t>What You've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1. Evaluation ≠ Testing — Measure real-world value, not just code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2. Structured rubrics eliminate bias and ensure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3. Hybrid approach works: Automated screening + Manual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4. Start small: Pilot on 20-30 samples before scaling to thousands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5. Document everything: Every decision is part of your quality audit 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7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60000"/>
              </a:lnSpc>
              <a:defRPr sz="1800" b="0">
                <a:solidFill>
                  <a:srgbClr val="FFFFFF"/>
                </a:solidFill>
              </a:defRPr>
            </a:pPr>
            <a:r>
              <a:t>Next: Pick one of your agents and design an evaluation</a:t>
            </a:r>
            <a:br/>
            <a:br/>
            <a:r>
              <a:t>Send results to aroma.tahir@taleemabad.com</a:t>
            </a:r>
            <a:br/>
            <a:br/>
            <a:r>
              <a:t>We'll review and refine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